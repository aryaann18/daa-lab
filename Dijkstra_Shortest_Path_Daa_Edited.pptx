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E708DFBF-672F-0150-CF23-F3C83FA14961}">
          <p14:sldIdLst>
            <p14:sldId id="256"/>
          </p14:sldIdLst>
        </p14:section>
        <p14:section name="Basics" id="{04C41C00-F4DA-3EFD-C0C0-8BE061CE7A53}">
          <p14:sldIdLst>
            <p14:sldId id="257"/>
            <p14:sldId id="258"/>
            <p14:sldId id="259"/>
          </p14:sldIdLst>
        </p14:section>
        <p14:section name="In action" id="{4D8B049E-B3E0-376A-978F-AE94BACE60CF}">
          <p14:sldIdLst>
            <p14:sldId id="260"/>
            <p14:sldId id="261"/>
            <p14:sldId id="262"/>
          </p14:sldIdLst>
        </p14:section>
        <p14:section name="Wrap up" id="{8F7C7CDE-6AAD-F915-412E-DB5A57FA48C7}">
          <p14:sldIdLst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+mn-lt"/>
              </a:rPr>
              <a:t>Steps needed when V = 1,000 and E = 5,000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Steps</c:v>
                </c:pt>
              </c:strCache>
            </c:strRef>
          </c:tx>
          <c:spPr>
            <a:solidFill>
              <a:srgbClr val="FBBF2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55B-4996-830A-7938AFB6B683}"/>
              </c:ext>
            </c:extLst>
          </c:dPt>
          <c:dPt>
            <c:idx val="1"/>
            <c:invertIfNegative val="0"/>
            <c:bubble3D val="0"/>
            <c:spPr>
              <a:solidFill>
                <a:srgbClr val="22D3E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55B-4996-830A-7938AFB6B68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Simple array</c:v>
                </c:pt>
                <c:pt idx="1">
                  <c:v>Priority queue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1000000</c:v>
                </c:pt>
                <c:pt idx="1">
                  <c:v>59794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55B-4996-830A-7938AFB6B68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CBD5E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000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9676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 everyone, I'm Aryan Khobragade (PRN 25070521273, Section E). Today: how Dijkstra's algorithm finds the quickest route.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relatable: every maps app is a shortest-path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 fact: twenty minutes at a café, no pen and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ideas: start at zero, be greedy, relax edges. Needs non-negative weights.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steps in plain words like stations on a metro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Order: A, C, B, D, E. B drops from 4 to 3 after visiting C. D = 8 via B, not 10 via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with heapq. The priority queue makes it fast.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numbers: V=1,000, E=5,000. V² = 1,000,000; (V+E) log2 V ≈ 59,800, about 17x fewer.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Strong for non-negative weights; mention Bellman-Ford and A*.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for listening!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B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_B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8046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5760720" y="731520"/>
            <a:ext cx="2103120" cy="182880"/>
          </a:xfrm>
          <a:prstGeom prst="line">
            <a:avLst/>
          </a:prstGeom>
          <a:noFill/>
          <a:ln w="19050">
            <a:solidFill>
              <a:schemeClr val="accent6">
                <a:alpha val="60000"/>
              </a:scheme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0" y="914400"/>
            <a:ext cx="1188720" cy="1188720"/>
          </a:xfrm>
          <a:prstGeom prst="line">
            <a:avLst/>
          </a:prstGeom>
          <a:noFill/>
          <a:ln w="4445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6949440" y="731520"/>
            <a:ext cx="914400" cy="1371600"/>
          </a:xfrm>
          <a:prstGeom prst="line">
            <a:avLst/>
          </a:prstGeom>
          <a:noFill/>
          <a:ln w="19050">
            <a:solidFill>
              <a:schemeClr val="accent6">
                <a:alpha val="60000"/>
              </a:scheme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2103120"/>
            <a:ext cx="1463040" cy="548640"/>
          </a:xfrm>
          <a:prstGeom prst="line">
            <a:avLst/>
          </a:prstGeom>
          <a:noFill/>
          <a:ln w="44450">
            <a:solidFill>
              <a:schemeClr val="accent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6035040" y="2103120"/>
            <a:ext cx="914400" cy="1188720"/>
          </a:xfrm>
          <a:prstGeom prst="line">
            <a:avLst/>
          </a:prstGeom>
          <a:noFill/>
          <a:ln w="19050">
            <a:solidFill>
              <a:schemeClr val="accent6">
                <a:alpha val="60000"/>
              </a:scheme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7680960" y="2651760"/>
            <a:ext cx="731520" cy="1554480"/>
          </a:xfrm>
          <a:prstGeom prst="line">
            <a:avLst/>
          </a:prstGeom>
          <a:noFill/>
          <a:ln w="44450">
            <a:solidFill>
              <a:schemeClr val="accent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0" y="3291840"/>
            <a:ext cx="1645920" cy="914400"/>
          </a:xfrm>
          <a:prstGeom prst="line">
            <a:avLst/>
          </a:prstGeom>
          <a:noFill/>
          <a:ln w="19050">
            <a:solidFill>
              <a:schemeClr val="accent6">
                <a:alpha val="60000"/>
              </a:scheme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68696" y="722376"/>
            <a:ext cx="384048" cy="384048"/>
          </a:xfrm>
          <a:prstGeom prst="ellipse">
            <a:avLst/>
          </a:prstGeom>
          <a:solidFill>
            <a:schemeClr val="accent1"/>
          </a:solidFill>
          <a:ln/>
          <a:effectLst>
            <a:outerShdw blurRad="177800" dist="50800" dir="5400000" algn="bl" rotWithShape="0">
              <a:srgbClr val="FBBF24">
                <a:alpha val="8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671816" y="539496"/>
            <a:ext cx="384048" cy="384048"/>
          </a:xfrm>
          <a:prstGeom prst="ellipse">
            <a:avLst/>
          </a:prstGeom>
          <a:solidFill>
            <a:schemeClr val="accent2"/>
          </a:solidFill>
          <a:ln/>
          <a:effectLst>
            <a:outerShdw blurRad="177800" dist="50800" dir="5400000" algn="bl" rotWithShape="0">
              <a:srgbClr val="22D3EE">
                <a:alpha val="8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757416" y="1911096"/>
            <a:ext cx="384048" cy="384048"/>
          </a:xfrm>
          <a:prstGeom prst="ellipse">
            <a:avLst/>
          </a:prstGeom>
          <a:solidFill>
            <a:schemeClr val="accent1"/>
          </a:solidFill>
          <a:ln/>
          <a:effectLst>
            <a:outerShdw blurRad="177800" dist="50800" dir="5400000" algn="bl" rotWithShape="0">
              <a:srgbClr val="FBBF24">
                <a:alpha val="8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0456" y="2459736"/>
            <a:ext cx="384048" cy="384048"/>
          </a:xfrm>
          <a:prstGeom prst="ellipse">
            <a:avLst/>
          </a:prstGeom>
          <a:solidFill>
            <a:schemeClr val="accent1"/>
          </a:solidFill>
          <a:ln/>
          <a:effectLst>
            <a:outerShdw blurRad="177800" dist="50800" dir="5400000" algn="bl" rotWithShape="0">
              <a:srgbClr val="FBBF24">
                <a:alpha val="8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843016" y="3099816"/>
            <a:ext cx="384048" cy="384048"/>
          </a:xfrm>
          <a:prstGeom prst="ellipse">
            <a:avLst/>
          </a:prstGeom>
          <a:solidFill>
            <a:schemeClr val="accent2"/>
          </a:solidFill>
          <a:ln/>
          <a:effectLst>
            <a:outerShdw blurRad="177800" dist="50800" dir="5400000" algn="bl" rotWithShape="0">
              <a:srgbClr val="22D3EE">
                <a:alpha val="8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88936" y="4014216"/>
            <a:ext cx="384048" cy="384048"/>
          </a:xfrm>
          <a:prstGeom prst="ellipse">
            <a:avLst/>
          </a:prstGeom>
          <a:solidFill>
            <a:schemeClr val="accent1"/>
          </a:solidFill>
          <a:ln/>
          <a:effectLst>
            <a:outerShdw blurRad="177800" dist="50800" dir="5400000" algn="bl" rotWithShape="0">
              <a:srgbClr val="FBBF24">
                <a:alpha val="8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0080" y="594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GRAPH ALGORITHMS  •  DATA STRUCTURES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96012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Dijkstra's Shortest Path Algorithm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880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Finding the quickest way from here to there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0080" y="3520440"/>
            <a:ext cx="4754880" cy="1097280"/>
          </a:xfrm>
          <a:prstGeom prst="roundRect">
            <a:avLst>
              <a:gd name="adj" fmla="val 12500"/>
            </a:avLst>
          </a:prstGeom>
          <a:solidFill>
            <a:schemeClr val="bg1">
              <a:alpha val="12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36301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ARYAN KHOBRAGADE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868680" y="4114800"/>
            <a:ext cx="237744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41148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PRN  25070521273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383280" y="4114800"/>
            <a:ext cx="173736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383280" y="41148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SECTION  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2"/>
                </a:solidFill>
              </a:rPr>
              <a:t>01  •  WHY IT MATTERS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Why shortest paths matter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Ever wondered how your maps app finds a route in a blink? </a:t>
            </a:r>
            <a:r>
              <a:rPr lang="en-US" sz="1700" b="1" dirty="0">
                <a:solidFill>
                  <a:schemeClr val="accent1"/>
                </a:solidFill>
              </a:rPr>
              <a:t>It's solving a shortest-path problem.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60320" cy="2606040"/>
          </a:xfrm>
          <a:prstGeom prst="roundRect">
            <a:avLst>
              <a:gd name="adj" fmla="val 5357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6" name="Navigation badge"/>
          <p:cNvSpPr/>
          <p:nvPr/>
        </p:nvSpPr>
        <p:spPr>
          <a:xfrm>
            <a:off x="822960" y="2240280"/>
            <a:ext cx="822960" cy="822960"/>
          </a:xfrm>
          <a:prstGeom prst="ellipse">
            <a:avLst/>
          </a:prstGeom>
          <a:solidFill>
            <a:schemeClr val="accent2"/>
          </a:solidFill>
          <a:ln/>
          <a:effectLst>
            <a:outerShdw blurRad="203200" dist="50800" dir="5400000" algn="bl" rotWithShape="0">
              <a:srgbClr val="22D3EE">
                <a:alpha val="80000"/>
              </a:srgbClr>
            </a:outerShdw>
          </a:effectLst>
        </p:spPr>
      </p:sp>
      <p:pic>
        <p:nvPicPr>
          <p:cNvPr id="7" name="Image 0" descr="Navig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30" y="2454250"/>
            <a:ext cx="395021" cy="39502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246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bg1"/>
                </a:solidFill>
              </a:rPr>
              <a:t>Navigation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657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Maps and GPS apps pick the fastest road between two places.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291840" y="1965960"/>
            <a:ext cx="2560320" cy="2606040"/>
          </a:xfrm>
          <a:prstGeom prst="roundRect">
            <a:avLst>
              <a:gd name="adj" fmla="val 5357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11" name="The Internet badge"/>
          <p:cNvSpPr/>
          <p:nvPr/>
        </p:nvSpPr>
        <p:spPr>
          <a:xfrm>
            <a:off x="3566160" y="2240280"/>
            <a:ext cx="822960" cy="822960"/>
          </a:xfrm>
          <a:prstGeom prst="ellipse">
            <a:avLst/>
          </a:prstGeom>
          <a:solidFill>
            <a:schemeClr val="accent3"/>
          </a:solidFill>
          <a:ln/>
          <a:effectLst>
            <a:outerShdw blurRad="203200" dist="50800" dir="5400000" algn="bl" rotWithShape="0">
              <a:srgbClr val="A78BFA">
                <a:alpha val="80000"/>
              </a:srgbClr>
            </a:outerShdw>
          </a:effectLst>
        </p:spPr>
      </p:sp>
      <p:pic>
        <p:nvPicPr>
          <p:cNvPr id="12" name="Image 1" descr="The Interne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0130" y="2454250"/>
            <a:ext cx="395021" cy="39502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66160" y="3246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bg1"/>
                </a:solidFill>
              </a:rPr>
              <a:t>The Internet</a:t>
            </a:r>
            <a:endParaRPr lang="en-US" sz="2100" dirty="0"/>
          </a:p>
        </p:txBody>
      </p:sp>
      <p:sp>
        <p:nvSpPr>
          <p:cNvPr id="14" name="Text 10"/>
          <p:cNvSpPr txBox="1"/>
          <p:nvPr/>
        </p:nvSpPr>
        <p:spPr>
          <a:xfrm>
            <a:off x="3566160" y="3657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Routers push your data along the quickest network path.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035040" y="1965960"/>
            <a:ext cx="2560320" cy="2606040"/>
          </a:xfrm>
          <a:prstGeom prst="roundRect">
            <a:avLst>
              <a:gd name="adj" fmla="val 5357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16" name="Deliveries badge"/>
          <p:cNvSpPr/>
          <p:nvPr/>
        </p:nvSpPr>
        <p:spPr>
          <a:xfrm>
            <a:off x="6309360" y="2240280"/>
            <a:ext cx="822960" cy="822960"/>
          </a:xfrm>
          <a:prstGeom prst="ellipse">
            <a:avLst/>
          </a:prstGeom>
          <a:solidFill>
            <a:schemeClr val="accent1"/>
          </a:solidFill>
          <a:ln/>
          <a:effectLst>
            <a:outerShdw blurRad="203200" dist="50800" dir="5400000" algn="bl" rotWithShape="0">
              <a:srgbClr val="FBBF24">
                <a:alpha val="80000"/>
              </a:srgbClr>
            </a:outerShdw>
          </a:effectLst>
        </p:spPr>
      </p:sp>
      <p:pic>
        <p:nvPicPr>
          <p:cNvPr id="17" name="Image 2" descr="Deliverie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3330" y="2454250"/>
            <a:ext cx="395021" cy="39502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09360" y="3246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bg1"/>
                </a:solidFill>
              </a:rPr>
              <a:t>Deliveries</a:t>
            </a:r>
            <a:endParaRPr lang="en-US" sz="2100" dirty="0"/>
          </a:p>
        </p:txBody>
      </p:sp>
      <p:sp>
        <p:nvSpPr>
          <p:cNvPr id="19" name="Text 14"/>
          <p:cNvSpPr txBox="1"/>
          <p:nvPr/>
        </p:nvSpPr>
        <p:spPr>
          <a:xfrm>
            <a:off x="6309360" y="3657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Couriers plan routes that save time and fuel.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3"/>
                </a:solidFill>
              </a:rPr>
              <a:t>02  •  THE MIND BEHIND IT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Meet Edsger Dijkstra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768096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1956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1581912" y="2176272"/>
            <a:ext cx="310896" cy="310896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tx1"/>
            </a:solidFill>
            <a:prstDash val="solid"/>
          </a:ln>
          <a:effectLst>
            <a:outerShdw blurRad="177800" dist="50800" dir="5400000" algn="bl" rotWithShape="0">
              <a:srgbClr val="22D3EE">
                <a:alpha val="9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743200"/>
            <a:ext cx="2560320" cy="1051560"/>
          </a:xfrm>
          <a:prstGeom prst="roundRect">
            <a:avLst>
              <a:gd name="adj" fmla="val 13043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78892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Designed at a café in Amsterdam, in about twenty minutes.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4173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1959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4416552" y="2176272"/>
            <a:ext cx="310896" cy="310896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tx1"/>
            </a:solidFill>
            <a:prstDash val="solid"/>
          </a:ln>
          <a:effectLst>
            <a:outerShdw blurRad="177800" dist="50800" dir="5400000" algn="bl" rotWithShape="0">
              <a:srgbClr val="A78BFA">
                <a:alpha val="9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2743200"/>
            <a:ext cx="2560320" cy="1051560"/>
          </a:xfrm>
          <a:prstGeom prst="roundRect">
            <a:avLst>
              <a:gd name="adj" fmla="val 13043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278892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Published in a short three-page paper.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14173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1972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7251192" y="2176272"/>
            <a:ext cx="310896" cy="310896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prstDash val="solid"/>
          </a:ln>
          <a:effectLst>
            <a:outerShdw blurRad="177800" dist="50800" dir="5400000" algn="bl" rotWithShape="0">
              <a:srgbClr val="FBBF24">
                <a:alpha val="9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2743200"/>
            <a:ext cx="2560320" cy="1051560"/>
          </a:xfrm>
          <a:prstGeom prst="roundRect">
            <a:avLst>
              <a:gd name="adj" fmla="val 13043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63640" y="278892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Receives the Turing Award for his work in computing.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8046720" cy="594360"/>
          </a:xfrm>
          <a:prstGeom prst="roundRect">
            <a:avLst>
              <a:gd name="adj" fmla="val 23077"/>
            </a:avLst>
          </a:prstGeom>
          <a:solidFill>
            <a:schemeClr val="bg1">
              <a:alpha val="14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02336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chemeClr val="accent1"/>
                </a:solidFill>
              </a:rPr>
              <a:t>“Simplicity is prerequisite for reliability.”</a:t>
            </a:r>
            <a:r>
              <a:rPr lang="en-US" sz="1600" dirty="0">
                <a:solidFill>
                  <a:schemeClr val="bg2"/>
                </a:solidFill>
              </a:rPr>
              <a:t>   — Edsger W. Dijkstra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2"/>
                </a:solidFill>
              </a:rPr>
              <a:t>03  •  THE CORE IDEA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The big idea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960120"/>
          </a:xfrm>
          <a:prstGeom prst="roundRect">
            <a:avLst>
              <a:gd name="adj" fmla="val 14286"/>
            </a:avLst>
          </a:prstGeom>
          <a:solidFill>
            <a:schemeClr val="bg1">
              <a:alpha val="14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5" name="Analogy badge"/>
          <p:cNvSpPr/>
          <p:nvPr/>
        </p:nvSpPr>
        <p:spPr>
          <a:xfrm>
            <a:off x="777240" y="1417320"/>
            <a:ext cx="685800" cy="685800"/>
          </a:xfrm>
          <a:prstGeom prst="ellipse">
            <a:avLst/>
          </a:prstGeom>
          <a:solidFill>
            <a:schemeClr val="accent1"/>
          </a:solidFill>
          <a:ln/>
          <a:effectLst>
            <a:outerShdw blurRad="203200" dist="50800" dir="5400000" algn="bl" rotWithShape="0">
              <a:srgbClr val="FBBF24">
                <a:alpha val="80000"/>
              </a:srgbClr>
            </a:outerShdw>
          </a:effectLst>
        </p:spPr>
      </p:sp>
      <p:pic>
        <p:nvPicPr>
          <p:cNvPr id="6" name="Image 0" descr="Analog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" y="15956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280160"/>
            <a:ext cx="6766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Imagine exploring a new city from your hotel. Always visit the nearest place you haven't seen yet, and note the cheapest way you found to reach its neighbours. That's the whole algorithm!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2560320" cy="2103120"/>
          </a:xfrm>
          <a:prstGeom prst="roundRect">
            <a:avLst>
              <a:gd name="adj" fmla="val 6522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286000" y="246888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0" b="1" dirty="0">
                <a:solidFill>
                  <a:schemeClr val="accent2">
                    <a:alpha val="2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7000" dirty="0"/>
          </a:p>
        </p:txBody>
      </p:sp>
      <p:sp>
        <p:nvSpPr>
          <p:cNvPr id="10" name="Start at zero badge"/>
          <p:cNvSpPr/>
          <p:nvPr/>
        </p:nvSpPr>
        <p:spPr>
          <a:xfrm>
            <a:off x="777240" y="2697480"/>
            <a:ext cx="594360" cy="594360"/>
          </a:xfrm>
          <a:prstGeom prst="ellipse">
            <a:avLst/>
          </a:prstGeom>
          <a:solidFill>
            <a:schemeClr val="accent2"/>
          </a:solidFill>
          <a:ln/>
          <a:effectLst>
            <a:outerShdw blurRad="203200" dist="50800" dir="5400000" algn="bl" rotWithShape="0">
              <a:srgbClr val="22D3EE">
                <a:alpha val="80000"/>
              </a:srgbClr>
            </a:outerShdw>
          </a:effectLst>
        </p:spPr>
      </p:sp>
      <p:pic>
        <p:nvPicPr>
          <p:cNvPr id="11" name="Image 1" descr="Start at zer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74" y="285201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77240" y="3429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Start at zero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37947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chemeClr val="bg2"/>
                </a:solidFill>
              </a:rPr>
              <a:t>The start node's distance is 0. All others are unknown: infinity.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3291840" y="2514600"/>
            <a:ext cx="2560320" cy="2103120"/>
          </a:xfrm>
          <a:prstGeom prst="roundRect">
            <a:avLst>
              <a:gd name="adj" fmla="val 6522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029200" y="246888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0" b="1" dirty="0">
                <a:solidFill>
                  <a:schemeClr val="accent1">
                    <a:alpha val="2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7000" dirty="0"/>
          </a:p>
        </p:txBody>
      </p:sp>
      <p:sp>
        <p:nvSpPr>
          <p:cNvPr id="16" name="Be greedy badge"/>
          <p:cNvSpPr/>
          <p:nvPr/>
        </p:nvSpPr>
        <p:spPr>
          <a:xfrm>
            <a:off x="3520440" y="2697480"/>
            <a:ext cx="594360" cy="594360"/>
          </a:xfrm>
          <a:prstGeom prst="ellipse">
            <a:avLst/>
          </a:prstGeom>
          <a:solidFill>
            <a:schemeClr val="accent1"/>
          </a:solidFill>
          <a:ln/>
          <a:effectLst>
            <a:outerShdw blurRad="203200" dist="50800" dir="5400000" algn="bl" rotWithShape="0">
              <a:srgbClr val="FBBF24">
                <a:alpha val="80000"/>
              </a:srgbClr>
            </a:outerShdw>
          </a:effectLst>
        </p:spPr>
      </p:sp>
      <p:pic>
        <p:nvPicPr>
          <p:cNvPr id="17" name="Image 2" descr="Be greed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4974" y="285201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520440" y="3429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Be greedy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3520440" y="37947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chemeClr val="bg2"/>
                </a:solidFill>
              </a:rPr>
              <a:t>Always pick the unvisited node with the smallest known distance.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6035040" y="2514600"/>
            <a:ext cx="2560320" cy="2103120"/>
          </a:xfrm>
          <a:prstGeom prst="roundRect">
            <a:avLst>
              <a:gd name="adj" fmla="val 6522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7772400" y="246888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0" b="1" dirty="0">
                <a:solidFill>
                  <a:schemeClr val="accent3">
                    <a:alpha val="2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7000" dirty="0"/>
          </a:p>
        </p:txBody>
      </p:sp>
      <p:sp>
        <p:nvSpPr>
          <p:cNvPr id="22" name="Relax edges badge"/>
          <p:cNvSpPr/>
          <p:nvPr/>
        </p:nvSpPr>
        <p:spPr>
          <a:xfrm>
            <a:off x="6263640" y="2697480"/>
            <a:ext cx="594360" cy="594360"/>
          </a:xfrm>
          <a:prstGeom prst="ellipse">
            <a:avLst/>
          </a:prstGeom>
          <a:solidFill>
            <a:schemeClr val="accent3"/>
          </a:solidFill>
          <a:ln/>
          <a:effectLst>
            <a:outerShdw blurRad="203200" dist="50800" dir="5400000" algn="bl" rotWithShape="0">
              <a:srgbClr val="A78BFA">
                <a:alpha val="80000"/>
              </a:srgbClr>
            </a:outerShdw>
          </a:effectLst>
        </p:spPr>
      </p:sp>
      <p:pic>
        <p:nvPicPr>
          <p:cNvPr id="23" name="Image 3" descr="Relax edge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8174" y="2852014"/>
            <a:ext cx="285293" cy="285293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263640" y="3429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Relax edges</a:t>
            </a:r>
            <a:endParaRPr lang="en-US" sz="1900" dirty="0"/>
          </a:p>
        </p:txBody>
      </p:sp>
      <p:sp>
        <p:nvSpPr>
          <p:cNvPr id="25" name="Text 19"/>
          <p:cNvSpPr txBox="1"/>
          <p:nvPr/>
        </p:nvSpPr>
        <p:spPr>
          <a:xfrm>
            <a:off x="6263640" y="37947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chemeClr val="bg2"/>
                </a:solidFill>
              </a:rPr>
              <a:t>Found a shorter way through this node? Update the neighbour.</a:t>
            </a:r>
            <a:endParaRPr lang="en-US" sz="13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3"/>
                </a:solidFill>
              </a:rPr>
              <a:t>04  •  THE PROCESS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Step by step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14400" y="1554480"/>
            <a:ext cx="0" cy="2779776"/>
          </a:xfrm>
          <a:prstGeom prst="line">
            <a:avLst/>
          </a:prstGeom>
          <a:noFill/>
          <a:ln w="50800">
            <a:solidFill>
              <a:schemeClr val="accent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1271016"/>
            <a:ext cx="7178040" cy="566928"/>
          </a:xfrm>
          <a:prstGeom prst="roundRect">
            <a:avLst>
              <a:gd name="adj" fmla="val 19355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316736"/>
            <a:ext cx="475488" cy="475488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tx1"/>
            </a:solidFill>
            <a:prstDash val="solid"/>
          </a:ln>
          <a:effectLst>
            <a:outerShdw blurRad="152400" dist="50800" dir="5400000" algn="bl" rotWithShape="0">
              <a:srgbClr val="22D3EE">
                <a:alpha val="8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76656" y="13167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1"/>
                </a:solidFill>
              </a:rPr>
              <a:t>1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1271016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Set up  </a:t>
            </a:r>
            <a:r>
              <a:rPr lang="en-US" sz="1500" dirty="0">
                <a:solidFill>
                  <a:schemeClr val="bg1"/>
                </a:solidFill>
              </a:rPr>
              <a:t>Start = 0, every other node = ∞. Nothing visited yet.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417320" y="1965960"/>
            <a:ext cx="7178040" cy="566928"/>
          </a:xfrm>
          <a:prstGeom prst="roundRect">
            <a:avLst>
              <a:gd name="adj" fmla="val 19355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2011680"/>
            <a:ext cx="475488" cy="475488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tx1"/>
            </a:solidFill>
            <a:prstDash val="solid"/>
          </a:ln>
          <a:effectLst>
            <a:outerShdw blurRad="152400" dist="50800" dir="5400000" algn="bl" rotWithShape="0">
              <a:srgbClr val="22D3EE">
                <a:alpha val="8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76656" y="2011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1"/>
                </a:solidFill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196596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Pick the closest  </a:t>
            </a:r>
            <a:r>
              <a:rPr lang="en-US" sz="1500" dirty="0">
                <a:solidFill>
                  <a:schemeClr val="bg1"/>
                </a:solidFill>
              </a:rPr>
              <a:t>Choose the unvisited node with the smallest distance.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417320" y="2660904"/>
            <a:ext cx="7178040" cy="566928"/>
          </a:xfrm>
          <a:prstGeom prst="roundRect">
            <a:avLst>
              <a:gd name="adj" fmla="val 19355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" y="2706624"/>
            <a:ext cx="475488" cy="475488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tx1"/>
            </a:solidFill>
            <a:prstDash val="solid"/>
          </a:ln>
          <a:effectLst>
            <a:outerShdw blurRad="152400" dist="50800" dir="5400000" algn="bl" rotWithShape="0">
              <a:srgbClr val="22D3EE">
                <a:alpha val="8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76656" y="27066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1"/>
                </a:solidFill>
              </a:rPr>
              <a:t>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2660904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Check neighbours  </a:t>
            </a:r>
            <a:r>
              <a:rPr lang="en-US" sz="1500" dirty="0">
                <a:solidFill>
                  <a:schemeClr val="bg1"/>
                </a:solidFill>
              </a:rPr>
              <a:t>Cheaper through this node? If yes, update the distance.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417320" y="3355848"/>
            <a:ext cx="7178040" cy="566928"/>
          </a:xfrm>
          <a:prstGeom prst="roundRect">
            <a:avLst>
              <a:gd name="adj" fmla="val 19355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6656" y="3401568"/>
            <a:ext cx="475488" cy="475488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tx1"/>
            </a:solidFill>
            <a:prstDash val="solid"/>
          </a:ln>
          <a:effectLst>
            <a:outerShdw blurRad="152400" dist="50800" dir="5400000" algn="bl" rotWithShape="0">
              <a:srgbClr val="22D3EE">
                <a:alpha val="8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76656" y="3401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1"/>
                </a:solidFill>
              </a:rPr>
              <a:t>4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645920" y="3355848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Lock it in  </a:t>
            </a:r>
            <a:r>
              <a:rPr lang="en-US" sz="1500" dirty="0">
                <a:solidFill>
                  <a:schemeClr val="bg1"/>
                </a:solidFill>
              </a:rPr>
              <a:t>Mark it visited. Its distance is now final.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417320" y="4050792"/>
            <a:ext cx="7178040" cy="566928"/>
          </a:xfrm>
          <a:prstGeom prst="roundRect">
            <a:avLst>
              <a:gd name="adj" fmla="val 19355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6656" y="4096512"/>
            <a:ext cx="475488" cy="475488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prstDash val="solid"/>
          </a:ln>
          <a:effectLst>
            <a:outerShdw blurRad="152400" dist="50800" dir="5400000" algn="bl" rotWithShape="0">
              <a:srgbClr val="FBBF24">
                <a:alpha val="8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76656" y="4096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1"/>
                </a:solidFill>
              </a:rPr>
              <a:t>5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1645920" y="4050792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Repeat  </a:t>
            </a:r>
            <a:r>
              <a:rPr lang="en-US" sz="1500" dirty="0">
                <a:solidFill>
                  <a:schemeClr val="bg1"/>
                </a:solidFill>
              </a:rPr>
              <a:t>Continue until you reach the destination or run out of nodes.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2"/>
                </a:solidFill>
              </a:rPr>
              <a:t>05  •  WORKED EXAMPLE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Let's trace an example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 flipV="1">
            <a:off x="914400" y="1874520"/>
            <a:ext cx="1645920" cy="105156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914400" y="2926080"/>
            <a:ext cx="1645920" cy="1051560"/>
          </a:xfrm>
          <a:prstGeom prst="line">
            <a:avLst/>
          </a:prstGeom>
          <a:noFill/>
          <a:ln w="57150">
            <a:solidFill>
              <a:schemeClr val="accent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2560320" y="1874520"/>
            <a:ext cx="0" cy="2103120"/>
          </a:xfrm>
          <a:prstGeom prst="line">
            <a:avLst/>
          </a:prstGeom>
          <a:noFill/>
          <a:ln w="57150">
            <a:solidFill>
              <a:schemeClr val="accent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1874520"/>
            <a:ext cx="1554480" cy="1051560"/>
          </a:xfrm>
          <a:prstGeom prst="line">
            <a:avLst/>
          </a:prstGeom>
          <a:noFill/>
          <a:ln w="57150">
            <a:solidFill>
              <a:schemeClr val="accent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2560320" y="2926080"/>
            <a:ext cx="1554480" cy="105156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114800" y="2926080"/>
            <a:ext cx="1280160" cy="0"/>
          </a:xfrm>
          <a:prstGeom prst="line">
            <a:avLst/>
          </a:prstGeom>
          <a:noFill/>
          <a:ln w="57150">
            <a:solidFill>
              <a:schemeClr val="accent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63624" y="2253996"/>
            <a:ext cx="347472" cy="292608"/>
          </a:xfrm>
          <a:prstGeom prst="roundRect">
            <a:avLst>
              <a:gd name="adj" fmla="val 25000"/>
            </a:avLst>
          </a:prstGeom>
          <a:solidFill>
            <a:schemeClr val="tx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563624" y="225399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563624" y="3305556"/>
            <a:ext cx="347472" cy="292608"/>
          </a:xfrm>
          <a:prstGeom prst="roundRect">
            <a:avLst>
              <a:gd name="adj" fmla="val 25000"/>
            </a:avLst>
          </a:prstGeom>
          <a:solidFill>
            <a:schemeClr val="tx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63624" y="330555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386584" y="2779776"/>
            <a:ext cx="347472" cy="292608"/>
          </a:xfrm>
          <a:prstGeom prst="roundRect">
            <a:avLst>
              <a:gd name="adj" fmla="val 25000"/>
            </a:avLst>
          </a:prstGeom>
          <a:solidFill>
            <a:schemeClr val="tx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386584" y="277977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163824" y="2253996"/>
            <a:ext cx="347472" cy="292608"/>
          </a:xfrm>
          <a:prstGeom prst="roundRect">
            <a:avLst>
              <a:gd name="adj" fmla="val 25000"/>
            </a:avLst>
          </a:prstGeom>
          <a:solidFill>
            <a:schemeClr val="tx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163824" y="225399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163824" y="3305556"/>
            <a:ext cx="347472" cy="292608"/>
          </a:xfrm>
          <a:prstGeom prst="roundRect">
            <a:avLst>
              <a:gd name="adj" fmla="val 25000"/>
            </a:avLst>
          </a:prstGeom>
          <a:solidFill>
            <a:schemeClr val="tx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163824" y="330555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81144" y="2779776"/>
            <a:ext cx="347472" cy="292608"/>
          </a:xfrm>
          <a:prstGeom prst="roundRect">
            <a:avLst>
              <a:gd name="adj" fmla="val 25000"/>
            </a:avLst>
          </a:prstGeom>
          <a:solidFill>
            <a:schemeClr val="tx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81144" y="277977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936" y="2642616"/>
            <a:ext cx="566928" cy="566928"/>
          </a:xfrm>
          <a:prstGeom prst="ellipse">
            <a:avLst/>
          </a:prstGeom>
          <a:solidFill>
            <a:schemeClr val="accent1"/>
          </a:solidFill>
          <a:ln/>
          <a:effectLst>
            <a:outerShdw blurRad="203200" dist="50800" dir="5400000" algn="bl" rotWithShape="0">
              <a:srgbClr val="FBBF24">
                <a:alpha val="8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30936" y="26426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tx1"/>
                </a:solidFill>
              </a:rPr>
              <a:t>A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640080" y="2286000"/>
            <a:ext cx="548640" cy="25603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22860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/>
                </a:solidFill>
              </a:rPr>
              <a:t>d=0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76856" y="1591056"/>
            <a:ext cx="566928" cy="566928"/>
          </a:xfrm>
          <a:prstGeom prst="ellipse">
            <a:avLst/>
          </a:prstGeom>
          <a:solidFill>
            <a:schemeClr val="accent2"/>
          </a:solidFill>
          <a:ln/>
          <a:effectLst>
            <a:outerShdw blurRad="203200" dist="50800" dir="5400000" algn="bl" rotWithShape="0">
              <a:srgbClr val="22D3EE">
                <a:alpha val="8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2276856" y="15910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tx1"/>
                </a:solidFill>
              </a:rPr>
              <a:t>B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2286000" y="1234440"/>
            <a:ext cx="548640" cy="25603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286000" y="12344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/>
                </a:solidFill>
              </a:rPr>
              <a:t>d=3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276856" y="3694176"/>
            <a:ext cx="566928" cy="566928"/>
          </a:xfrm>
          <a:prstGeom prst="ellipse">
            <a:avLst/>
          </a:prstGeom>
          <a:solidFill>
            <a:schemeClr val="accent2"/>
          </a:solidFill>
          <a:ln/>
          <a:effectLst>
            <a:outerShdw blurRad="203200" dist="50800" dir="5400000" algn="bl" rotWithShape="0">
              <a:srgbClr val="22D3EE">
                <a:alpha val="8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2276856" y="36941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tx1"/>
                </a:solidFill>
              </a:rPr>
              <a:t>C</a:t>
            </a:r>
            <a:endParaRPr lang="en-US" sz="1900" dirty="0"/>
          </a:p>
        </p:txBody>
      </p:sp>
      <p:sp>
        <p:nvSpPr>
          <p:cNvPr id="32" name="Shape 30"/>
          <p:cNvSpPr/>
          <p:nvPr/>
        </p:nvSpPr>
        <p:spPr>
          <a:xfrm>
            <a:off x="2286000" y="4361688"/>
            <a:ext cx="548640" cy="25603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286000" y="43616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/>
                </a:solidFill>
              </a:rPr>
              <a:t>d=2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831336" y="2642616"/>
            <a:ext cx="566928" cy="566928"/>
          </a:xfrm>
          <a:prstGeom prst="ellipse">
            <a:avLst/>
          </a:prstGeom>
          <a:solidFill>
            <a:schemeClr val="accent2"/>
          </a:solidFill>
          <a:ln/>
          <a:effectLst>
            <a:outerShdw blurRad="203200" dist="50800" dir="5400000" algn="bl" rotWithShape="0">
              <a:srgbClr val="22D3EE">
                <a:alpha val="85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3831336" y="26426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tx1"/>
                </a:solidFill>
              </a:rPr>
              <a:t>D</a:t>
            </a:r>
            <a:endParaRPr lang="en-US" sz="1900" dirty="0"/>
          </a:p>
        </p:txBody>
      </p:sp>
      <p:sp>
        <p:nvSpPr>
          <p:cNvPr id="36" name="Shape 34"/>
          <p:cNvSpPr/>
          <p:nvPr/>
        </p:nvSpPr>
        <p:spPr>
          <a:xfrm>
            <a:off x="3840480" y="2286000"/>
            <a:ext cx="548640" cy="25603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840480" y="22860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/>
                </a:solidFill>
              </a:rPr>
              <a:t>d=8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111496" y="2642616"/>
            <a:ext cx="566928" cy="566928"/>
          </a:xfrm>
          <a:prstGeom prst="ellipse">
            <a:avLst/>
          </a:prstGeom>
          <a:solidFill>
            <a:schemeClr val="accent2"/>
          </a:solidFill>
          <a:ln/>
          <a:effectLst>
            <a:outerShdw blurRad="203200" dist="50800" dir="5400000" algn="bl" rotWithShape="0">
              <a:srgbClr val="22D3EE">
                <a:alpha val="85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5111496" y="26426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tx1"/>
                </a:solidFill>
              </a:rPr>
              <a:t>E</a:t>
            </a:r>
            <a:endParaRPr lang="en-US" sz="1900" dirty="0"/>
          </a:p>
        </p:txBody>
      </p:sp>
      <p:sp>
        <p:nvSpPr>
          <p:cNvPr id="40" name="Shape 38"/>
          <p:cNvSpPr/>
          <p:nvPr/>
        </p:nvSpPr>
        <p:spPr>
          <a:xfrm>
            <a:off x="5120640" y="2286000"/>
            <a:ext cx="548640" cy="25603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120640" y="22860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/>
                </a:solidFill>
              </a:rPr>
              <a:t>d=11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46817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Gold = shortest routes  •  dashed = not used  •  d = final distance from A</a:t>
            </a:r>
            <a:endParaRPr lang="en-US" sz="11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325880"/>
          <a:ext cx="2514600" cy="91440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70F24"/>
                          </a:solidFill>
                        </a:rPr>
                        <a:t>Node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70F24"/>
                          </a:solidFill>
                        </a:rPr>
                        <a:t>Dist.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70F24"/>
                          </a:solidFill>
                        </a:rPr>
                        <a:t>Shortest path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A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A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C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A→C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B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A→C→B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D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A→C→B→D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BBF24"/>
                          </a:solidFill>
                        </a:rPr>
                        <a:t>E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BBF24"/>
                          </a:solidFill>
                        </a:rPr>
                        <a:t>11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BBF24"/>
                          </a:solidFill>
                        </a:rPr>
                        <a:t>A→C→B→D→E</a:t>
                      </a:r>
                      <a:endParaRPr lang="en-US" sz="12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4" name="Shape 41"/>
          <p:cNvSpPr/>
          <p:nvPr/>
        </p:nvSpPr>
        <p:spPr>
          <a:xfrm>
            <a:off x="6126480" y="3703320"/>
            <a:ext cx="2514600" cy="914400"/>
          </a:xfrm>
          <a:prstGeom prst="roundRect">
            <a:avLst>
              <a:gd name="adj" fmla="val 15000"/>
            </a:avLst>
          </a:prstGeom>
          <a:solidFill>
            <a:schemeClr val="bg1">
              <a:alpha val="14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263640" y="37490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Visit order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A → C → B → D → 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1"/>
                </a:solidFill>
              </a:rPr>
              <a:t>A→C→B (3) beats A→B (4)!</a:t>
            </a:r>
            <a:endParaRPr lang="en-US" sz="140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3"/>
                </a:solidFill>
              </a:rPr>
              <a:t>06  •  IN CODE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The code, made simple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303520" cy="3383280"/>
          </a:xfrm>
          <a:prstGeom prst="roundRect">
            <a:avLst>
              <a:gd name="adj" fmla="val 3243"/>
            </a:avLst>
          </a:prstGeom>
          <a:solidFill>
            <a:schemeClr val="tx1"/>
          </a:solidFill>
          <a:ln w="15875">
            <a:solidFill>
              <a:schemeClr val="accent2">
                <a:alpha val="60000"/>
              </a:schemeClr>
            </a:solidFill>
            <a:prstDash val="solid"/>
          </a:ln>
          <a:effectLst>
            <a:outerShdw blurRad="228600" dist="50800" dir="5400000" algn="bl" rotWithShape="0">
              <a:srgbClr val="22D3EE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17320"/>
            <a:ext cx="118872" cy="11887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14173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Shape 5"/>
          <p:cNvSpPr/>
          <p:nvPr/>
        </p:nvSpPr>
        <p:spPr>
          <a:xfrm>
            <a:off x="1133856" y="141732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463040" y="1371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dijkstra.py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691640"/>
            <a:ext cx="49377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heapq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dijkstra</a:t>
            </a: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(graph, start):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dist = {n: </a:t>
            </a: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'inf'</a:t>
            </a: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</a:t>
            </a: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graph}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dist[start] =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pq = [(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start)]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pq: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d, u = heapq.</a:t>
            </a: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heappop</a:t>
            </a: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(pq)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 &gt; dist[u]: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v, w </a:t>
            </a: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graph[u]: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 + w &lt; dist[v]: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dist[v] = d + w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heapq.</a:t>
            </a: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heappush</a:t>
            </a: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(pq, (dist[v], v))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280160"/>
            <a:ext cx="2468880" cy="1024128"/>
          </a:xfrm>
          <a:prstGeom prst="roundRect">
            <a:avLst>
              <a:gd name="adj" fmla="val 13393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1371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1664208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chemeClr val="bg1"/>
                </a:solidFill>
              </a:rPr>
              <a:t>our notebook of best-known distances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26480" y="2441448"/>
            <a:ext cx="2468880" cy="1024128"/>
          </a:xfrm>
          <a:prstGeom prst="roundRect">
            <a:avLst>
              <a:gd name="adj" fmla="val 13393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09360" y="25328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pq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2825496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chemeClr val="bg1"/>
                </a:solidFill>
              </a:rPr>
              <a:t>a priority queue that always hands us the closest node first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26480" y="3602736"/>
            <a:ext cx="2468880" cy="1024128"/>
          </a:xfrm>
          <a:prstGeom prst="roundRect">
            <a:avLst>
              <a:gd name="adj" fmla="val 13393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36941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+ w &lt; dist[v]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986784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chemeClr val="bg1"/>
                </a:solidFill>
              </a:rPr>
              <a:t>the relaxation check: did we just find a shortcut?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2"/>
                </a:solidFill>
              </a:rPr>
              <a:t>07  •  PERFORMANCE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How fast is it?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4480560" cy="3291840"/>
          </a:xfrm>
          <a:prstGeom prst="roundRect">
            <a:avLst>
              <a:gd name="adj" fmla="val 4167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640080" y="1371600"/>
          <a:ext cx="429768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303520" y="1280160"/>
            <a:ext cx="3291840" cy="960120"/>
          </a:xfrm>
          <a:prstGeom prst="roundRect">
            <a:avLst>
              <a:gd name="adj" fmla="val 14286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0" y="13533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O(V²)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1783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chemeClr val="bg1"/>
                </a:solidFill>
              </a:rPr>
              <a:t>Simple array version. </a:t>
            </a:r>
            <a:r>
              <a:rPr lang="en-US" sz="1250" dirty="0">
                <a:solidFill>
                  <a:schemeClr val="bg2"/>
                </a:solidFill>
              </a:rPr>
              <a:t>Fine for small or dense graphs.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303520" y="2377440"/>
            <a:ext cx="3291840" cy="960120"/>
          </a:xfrm>
          <a:prstGeom prst="roundRect">
            <a:avLst>
              <a:gd name="adj" fmla="val 14286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0" y="24505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O((V+E) log V)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5486400" y="2880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chemeClr val="bg1"/>
                </a:solidFill>
              </a:rPr>
              <a:t>With a priority queue. </a:t>
            </a:r>
            <a:r>
              <a:rPr lang="en-US" sz="1250" dirty="0">
                <a:solidFill>
                  <a:schemeClr val="bg2"/>
                </a:solidFill>
              </a:rPr>
              <a:t>About 17× fewer steps in this example.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303520" y="3474720"/>
            <a:ext cx="3291840" cy="960120"/>
          </a:xfrm>
          <a:prstGeom prst="roundRect">
            <a:avLst>
              <a:gd name="adj" fmla="val 14286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0" y="35478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O(V)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0" y="3977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chemeClr val="bg1"/>
                </a:solidFill>
              </a:rPr>
              <a:t>Extra memory. </a:t>
            </a:r>
            <a:r>
              <a:rPr lang="en-US" sz="1250" dirty="0">
                <a:solidFill>
                  <a:schemeClr val="bg2"/>
                </a:solidFill>
              </a:rPr>
              <a:t>Just the distance table and queue.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5303520" y="45720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V = nodes (vertices)   •   E = edges (roads or links)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3"/>
                </a:solidFill>
              </a:rPr>
              <a:t>08  •  IN THE REAL WORLD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Where it shines, and where not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4572000" cy="3337560"/>
          </a:xfrm>
          <a:prstGeom prst="roundRect">
            <a:avLst>
              <a:gd name="adj" fmla="val 4110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3898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5"/>
                </a:solidFill>
              </a:rPr>
              <a:t>Where you'll meet it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77240" y="1874520"/>
            <a:ext cx="1965960" cy="1188720"/>
          </a:xfrm>
          <a:prstGeom prst="roundRect">
            <a:avLst>
              <a:gd name="adj" fmla="val 9231"/>
            </a:avLst>
          </a:prstGeom>
          <a:solidFill>
            <a:schemeClr val="bg1">
              <a:alpha val="14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7" name="Maps &amp; GPS badge"/>
          <p:cNvSpPr/>
          <p:nvPr/>
        </p:nvSpPr>
        <p:spPr>
          <a:xfrm>
            <a:off x="914400" y="2011680"/>
            <a:ext cx="457200" cy="457200"/>
          </a:xfrm>
          <a:prstGeom prst="ellipse">
            <a:avLst/>
          </a:prstGeom>
          <a:solidFill>
            <a:schemeClr val="accent2"/>
          </a:solidFill>
          <a:ln/>
          <a:effectLst>
            <a:outerShdw blurRad="203200" dist="50800" dir="5400000" algn="bl" rotWithShape="0">
              <a:srgbClr val="22D3EE">
                <a:alpha val="80000"/>
              </a:srgbClr>
            </a:outerShdw>
          </a:effectLst>
        </p:spPr>
      </p:sp>
      <p:pic>
        <p:nvPicPr>
          <p:cNvPr id="8" name="Image 0" descr="Maps &amp; GP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2130552"/>
            <a:ext cx="219456" cy="21945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14400" y="256946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Maps &amp; GPS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880360" y="1874520"/>
            <a:ext cx="1965960" cy="1188720"/>
          </a:xfrm>
          <a:prstGeom prst="roundRect">
            <a:avLst>
              <a:gd name="adj" fmla="val 9231"/>
            </a:avLst>
          </a:prstGeom>
          <a:solidFill>
            <a:schemeClr val="bg1">
              <a:alpha val="14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11" name="Network routing badge"/>
          <p:cNvSpPr/>
          <p:nvPr/>
        </p:nvSpPr>
        <p:spPr>
          <a:xfrm>
            <a:off x="3017520" y="2011680"/>
            <a:ext cx="457200" cy="457200"/>
          </a:xfrm>
          <a:prstGeom prst="ellipse">
            <a:avLst/>
          </a:prstGeom>
          <a:solidFill>
            <a:schemeClr val="accent3"/>
          </a:solidFill>
          <a:ln/>
          <a:effectLst>
            <a:outerShdw blurRad="203200" dist="50800" dir="5400000" algn="bl" rotWithShape="0">
              <a:srgbClr val="A78BFA">
                <a:alpha val="80000"/>
              </a:srgbClr>
            </a:outerShdw>
          </a:effectLst>
        </p:spPr>
      </p:sp>
      <p:pic>
        <p:nvPicPr>
          <p:cNvPr id="12" name="Image 1" descr="Network rou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6392" y="213055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017520" y="256946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Network routing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77240" y="3200400"/>
            <a:ext cx="1965960" cy="1188720"/>
          </a:xfrm>
          <a:prstGeom prst="roundRect">
            <a:avLst>
              <a:gd name="adj" fmla="val 9231"/>
            </a:avLst>
          </a:prstGeom>
          <a:solidFill>
            <a:schemeClr val="bg1">
              <a:alpha val="14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15" name="Game AI paths badge"/>
          <p:cNvSpPr/>
          <p:nvPr/>
        </p:nvSpPr>
        <p:spPr>
          <a:xfrm>
            <a:off x="914400" y="3337560"/>
            <a:ext cx="457200" cy="457200"/>
          </a:xfrm>
          <a:prstGeom prst="ellipse">
            <a:avLst/>
          </a:prstGeom>
          <a:solidFill>
            <a:schemeClr val="accent4"/>
          </a:solidFill>
          <a:ln/>
          <a:effectLst>
            <a:outerShdw blurRad="203200" dist="50800" dir="5400000" algn="bl" rotWithShape="0">
              <a:srgbClr val="FB7185">
                <a:alpha val="80000"/>
              </a:srgbClr>
            </a:outerShdw>
          </a:effectLst>
        </p:spPr>
      </p:sp>
      <p:pic>
        <p:nvPicPr>
          <p:cNvPr id="16" name="Image 2" descr="Game AI path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2" y="345643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4400" y="389534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Game AI paths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2880360" y="3200400"/>
            <a:ext cx="1965960" cy="1188720"/>
          </a:xfrm>
          <a:prstGeom prst="roundRect">
            <a:avLst>
              <a:gd name="adj" fmla="val 9231"/>
            </a:avLst>
          </a:prstGeom>
          <a:solidFill>
            <a:schemeClr val="bg1">
              <a:alpha val="14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19" name="Travel planners badge"/>
          <p:cNvSpPr/>
          <p:nvPr/>
        </p:nvSpPr>
        <p:spPr>
          <a:xfrm>
            <a:off x="3017520" y="3337560"/>
            <a:ext cx="457200" cy="457200"/>
          </a:xfrm>
          <a:prstGeom prst="ellipse">
            <a:avLst/>
          </a:prstGeom>
          <a:solidFill>
            <a:schemeClr val="accent1"/>
          </a:solidFill>
          <a:ln/>
          <a:effectLst>
            <a:outerShdw blurRad="203200" dist="50800" dir="5400000" algn="bl" rotWithShape="0">
              <a:srgbClr val="FBBF24">
                <a:alpha val="80000"/>
              </a:srgbClr>
            </a:outerShdw>
          </a:effectLst>
        </p:spPr>
      </p:sp>
      <p:pic>
        <p:nvPicPr>
          <p:cNvPr id="20" name="Image 3" descr="Travel planner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6392" y="3456432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3017520" y="389534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Travel planners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5349240" y="1280160"/>
            <a:ext cx="3246120" cy="3337560"/>
          </a:xfrm>
          <a:prstGeom prst="roundRect">
            <a:avLst>
              <a:gd name="adj" fmla="val 4225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5577840" y="138988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4"/>
                </a:solidFill>
              </a:rPr>
              <a:t>Watch out for</a:t>
            </a:r>
            <a:endParaRPr lang="en-US" sz="1900" dirty="0"/>
          </a:p>
        </p:txBody>
      </p:sp>
      <p:sp>
        <p:nvSpPr>
          <p:cNvPr id="24" name="Limit 1 badge"/>
          <p:cNvSpPr/>
          <p:nvPr/>
        </p:nvSpPr>
        <p:spPr>
          <a:xfrm>
            <a:off x="5577840" y="2011680"/>
            <a:ext cx="411480" cy="411480"/>
          </a:xfrm>
          <a:prstGeom prst="ellipse">
            <a:avLst/>
          </a:prstGeom>
          <a:solidFill>
            <a:schemeClr val="accent4"/>
          </a:solidFill>
          <a:ln/>
          <a:effectLst>
            <a:outerShdw blurRad="203200" dist="50800" dir="5400000" algn="bl" rotWithShape="0">
              <a:srgbClr val="FB7185">
                <a:alpha val="80000"/>
              </a:srgbClr>
            </a:outerShdw>
          </a:effectLst>
        </p:spPr>
      </p:sp>
      <p:pic>
        <p:nvPicPr>
          <p:cNvPr id="25" name="Image 4" descr="Limit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4825" y="2118665"/>
            <a:ext cx="197510" cy="19751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126480" y="19659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Negative edge weights break it. Use Bellman-Ford instead.</a:t>
            </a:r>
            <a:endParaRPr lang="en-US" sz="1400" dirty="0"/>
          </a:p>
        </p:txBody>
      </p:sp>
      <p:sp>
        <p:nvSpPr>
          <p:cNvPr id="27" name="Limit 2 badge"/>
          <p:cNvSpPr/>
          <p:nvPr/>
        </p:nvSpPr>
        <p:spPr>
          <a:xfrm>
            <a:off x="5577840" y="2880360"/>
            <a:ext cx="411480" cy="411480"/>
          </a:xfrm>
          <a:prstGeom prst="ellipse">
            <a:avLst/>
          </a:prstGeom>
          <a:solidFill>
            <a:schemeClr val="accent4"/>
          </a:solidFill>
          <a:ln/>
          <a:effectLst>
            <a:outerShdw blurRad="203200" dist="50800" dir="5400000" algn="bl" rotWithShape="0">
              <a:srgbClr val="FB7185">
                <a:alpha val="80000"/>
              </a:srgbClr>
            </a:outerShdw>
          </a:effectLst>
        </p:spPr>
      </p:sp>
      <p:pic>
        <p:nvPicPr>
          <p:cNvPr id="28" name="Image 5" descr="Limit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4825" y="2987345"/>
            <a:ext cx="197510" cy="19751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6126480" y="28346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It solves one starting point at a time.</a:t>
            </a:r>
            <a:endParaRPr lang="en-US" sz="1400" dirty="0"/>
          </a:p>
        </p:txBody>
      </p:sp>
      <p:sp>
        <p:nvSpPr>
          <p:cNvPr id="30" name="Limit 3 badge"/>
          <p:cNvSpPr/>
          <p:nvPr/>
        </p:nvSpPr>
        <p:spPr>
          <a:xfrm>
            <a:off x="5577840" y="3749040"/>
            <a:ext cx="411480" cy="411480"/>
          </a:xfrm>
          <a:prstGeom prst="ellipse">
            <a:avLst/>
          </a:prstGeom>
          <a:solidFill>
            <a:schemeClr val="accent4"/>
          </a:solidFill>
          <a:ln/>
          <a:effectLst>
            <a:outerShdw blurRad="203200" dist="50800" dir="5400000" algn="bl" rotWithShape="0">
              <a:srgbClr val="FB7185">
                <a:alpha val="80000"/>
              </a:srgbClr>
            </a:outerShdw>
          </a:effectLst>
        </p:spPr>
      </p:sp>
      <p:pic>
        <p:nvPicPr>
          <p:cNvPr id="31" name="Image 6" descr="Limit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4825" y="3856025"/>
            <a:ext cx="197510" cy="19751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6126480" y="37033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On huge maps, A* can be faster.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822960"/>
            <a:ext cx="2011680" cy="274320"/>
          </a:xfrm>
          <a:prstGeom prst="line">
            <a:avLst/>
          </a:prstGeom>
          <a:noFill/>
          <a:ln w="19050">
            <a:solidFill>
              <a:schemeClr val="accent6">
                <a:alpha val="60000"/>
              </a:scheme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0" y="822960"/>
            <a:ext cx="1097280" cy="1463040"/>
          </a:xfrm>
          <a:prstGeom prst="line">
            <a:avLst/>
          </a:prstGeom>
          <a:noFill/>
          <a:ln w="4445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7132320" y="1097280"/>
            <a:ext cx="914400" cy="1188720"/>
          </a:xfrm>
          <a:prstGeom prst="line">
            <a:avLst/>
          </a:prstGeom>
          <a:noFill/>
          <a:ln w="19050">
            <a:solidFill>
              <a:schemeClr val="accent6">
                <a:alpha val="60000"/>
              </a:scheme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2286000"/>
            <a:ext cx="1371600" cy="731520"/>
          </a:xfrm>
          <a:prstGeom prst="line">
            <a:avLst/>
          </a:prstGeom>
          <a:noFill/>
          <a:ln w="44450">
            <a:solidFill>
              <a:schemeClr val="accent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6217920" y="2286000"/>
            <a:ext cx="914400" cy="1097280"/>
          </a:xfrm>
          <a:prstGeom prst="line">
            <a:avLst/>
          </a:prstGeom>
          <a:noFill/>
          <a:ln w="19050">
            <a:solidFill>
              <a:schemeClr val="accent6">
                <a:alpha val="60000"/>
              </a:scheme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7863840" y="3017520"/>
            <a:ext cx="640080" cy="1280160"/>
          </a:xfrm>
          <a:prstGeom prst="line">
            <a:avLst/>
          </a:prstGeom>
          <a:noFill/>
          <a:ln w="44450">
            <a:solidFill>
              <a:schemeClr val="accent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0" y="3383280"/>
            <a:ext cx="1645920" cy="914400"/>
          </a:xfrm>
          <a:prstGeom prst="line">
            <a:avLst/>
          </a:prstGeom>
          <a:noFill/>
          <a:ln w="19050">
            <a:solidFill>
              <a:schemeClr val="accent6">
                <a:alpha val="60000"/>
              </a:scheme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43016" y="630936"/>
            <a:ext cx="384048" cy="384048"/>
          </a:xfrm>
          <a:prstGeom prst="ellipse">
            <a:avLst/>
          </a:prstGeom>
          <a:solidFill>
            <a:schemeClr val="accent1"/>
          </a:solidFill>
          <a:ln/>
          <a:effectLst>
            <a:outerShdw blurRad="177800" dist="50800" dir="5400000" algn="bl" rotWithShape="0">
              <a:srgbClr val="FBBF24">
                <a:alpha val="8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854696" y="905256"/>
            <a:ext cx="384048" cy="384048"/>
          </a:xfrm>
          <a:prstGeom prst="ellipse">
            <a:avLst/>
          </a:prstGeom>
          <a:solidFill>
            <a:schemeClr val="accent2"/>
          </a:solidFill>
          <a:ln/>
          <a:effectLst>
            <a:outerShdw blurRad="177800" dist="50800" dir="5400000" algn="bl" rotWithShape="0">
              <a:srgbClr val="22D3EE">
                <a:alpha val="8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940296" y="2093976"/>
            <a:ext cx="384048" cy="384048"/>
          </a:xfrm>
          <a:prstGeom prst="ellipse">
            <a:avLst/>
          </a:prstGeom>
          <a:solidFill>
            <a:schemeClr val="accent1"/>
          </a:solidFill>
          <a:ln/>
          <a:effectLst>
            <a:outerShdw blurRad="177800" dist="50800" dir="5400000" algn="bl" rotWithShape="0">
              <a:srgbClr val="FBBF24">
                <a:alpha val="8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311896" y="2825496"/>
            <a:ext cx="384048" cy="384048"/>
          </a:xfrm>
          <a:prstGeom prst="ellipse">
            <a:avLst/>
          </a:prstGeom>
          <a:solidFill>
            <a:schemeClr val="accent1"/>
          </a:solidFill>
          <a:ln/>
          <a:effectLst>
            <a:outerShdw blurRad="177800" dist="50800" dir="5400000" algn="bl" rotWithShape="0">
              <a:srgbClr val="FBBF24">
                <a:alpha val="8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25896" y="3191256"/>
            <a:ext cx="384048" cy="384048"/>
          </a:xfrm>
          <a:prstGeom prst="ellipse">
            <a:avLst/>
          </a:prstGeom>
          <a:solidFill>
            <a:schemeClr val="accent2"/>
          </a:solidFill>
          <a:ln/>
          <a:effectLst>
            <a:outerShdw blurRad="177800" dist="50800" dir="5400000" algn="bl" rotWithShape="0">
              <a:srgbClr val="22D3EE">
                <a:alpha val="8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671816" y="4105656"/>
            <a:ext cx="384048" cy="384048"/>
          </a:xfrm>
          <a:prstGeom prst="ellipse">
            <a:avLst/>
          </a:prstGeom>
          <a:solidFill>
            <a:schemeClr val="accent1"/>
          </a:solidFill>
          <a:ln/>
          <a:effectLst>
            <a:outerShdw blurRad="177800" dist="50800" dir="5400000" algn="bl" rotWithShape="0">
              <a:srgbClr val="FBBF24">
                <a:alpha val="8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0080" y="123444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5600" dirty="0"/>
          </a:p>
        </p:txBody>
      </p:sp>
      <p:sp>
        <p:nvSpPr>
          <p:cNvPr id="17" name="Shape 15"/>
          <p:cNvSpPr/>
          <p:nvPr/>
        </p:nvSpPr>
        <p:spPr>
          <a:xfrm>
            <a:off x="640080" y="3200400"/>
            <a:ext cx="4572000" cy="1097280"/>
          </a:xfrm>
          <a:prstGeom prst="roundRect">
            <a:avLst>
              <a:gd name="adj" fmla="val 12500"/>
            </a:avLst>
          </a:prstGeom>
          <a:solidFill>
            <a:schemeClr val="bg1">
              <a:alpha val="12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33101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ARYAN KHOBRAGADE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37490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PRN </a:t>
            </a:r>
            <a:r>
              <a:rPr lang="en-US" sz="1600" dirty="0">
                <a:solidFill>
                  <a:schemeClr val="bg1"/>
                </a:solidFill>
              </a:rPr>
              <a:t>25070521273</a:t>
            </a:r>
            <a:r>
              <a:rPr lang="en-US" sz="1600" b="1" dirty="0">
                <a:solidFill>
                  <a:schemeClr val="accent2"/>
                </a:solidFill>
              </a:rPr>
              <a:t>     SECTION </a:t>
            </a:r>
            <a:r>
              <a:rPr lang="en-US" sz="1600" dirty="0">
                <a:solidFill>
                  <a:schemeClr val="bg1"/>
                </a:solidFill>
              </a:rPr>
              <a:t>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on Route">
  <a:themeElements>
    <a:clrScheme name="Neon Route">
      <a:dk1>
        <a:srgbClr val="070F24"/>
      </a:dk1>
      <a:lt1>
        <a:srgbClr val="FFFFFF"/>
      </a:lt1>
      <a:dk2>
        <a:srgbClr val="0F1B3D"/>
      </a:dk2>
      <a:lt2>
        <a:srgbClr val="CBD5E1"/>
      </a:lt2>
      <a:accent1>
        <a:srgbClr val="FBBF24"/>
      </a:accent1>
      <a:accent2>
        <a:srgbClr val="22D3EE"/>
      </a:accent2>
      <a:accent3>
        <a:srgbClr val="A78BFA"/>
      </a:accent3>
      <a:accent4>
        <a:srgbClr val="FB7185"/>
      </a:accent4>
      <a:accent5>
        <a:srgbClr val="34D399"/>
      </a:accent5>
      <a:accent6>
        <a:srgbClr val="94A3B8"/>
      </a:accent6>
      <a:hlink>
        <a:srgbClr val="22D3EE"/>
      </a:hlink>
      <a:folHlink>
        <a:srgbClr val="94A3B8"/>
      </a:folHlink>
    </a:clrScheme>
    <a:fontScheme name="Neon Rout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931</Words>
  <Application>Microsoft Office PowerPoint</Application>
  <PresentationFormat>On-screen Show (16:9)</PresentationFormat>
  <Paragraphs>165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Neon Route</vt:lpstr>
      <vt:lpstr>PowerPoint Presentation</vt:lpstr>
      <vt:lpstr>Why shortest paths matter</vt:lpstr>
      <vt:lpstr>Meet Edsger Dijkstra</vt:lpstr>
      <vt:lpstr>The big idea</vt:lpstr>
      <vt:lpstr>Step by step</vt:lpstr>
      <vt:lpstr>Let's trace an example</vt:lpstr>
      <vt:lpstr>The code, made simple</vt:lpstr>
      <vt:lpstr>How fast is it?</vt:lpstr>
      <vt:lpstr>Where it shines, and where not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Dijkstra's Shortest Path Algorithm</dc:title>
  <dc:subject>PptxGenJS Presentation</dc:subject>
  <dc:creator>ARYAN KHOBRAGADE</dc:creator>
  <cp:lastModifiedBy>Palash Khobragade</cp:lastModifiedBy>
  <cp:revision>1</cp:revision>
  <dcterms:created xsi:type="dcterms:W3CDTF">2026-10-20T11:26:07Z</dcterms:created>
  <dcterms:modified xsi:type="dcterms:W3CDTF">2026-10-20T11:27:28Z</dcterms:modified>
</cp:coreProperties>
</file>